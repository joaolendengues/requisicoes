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Requisições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6E4F0"/>
                </a:solidFill>
                <a:latin typeface="Calibri"/>
              </a:rPr>
              <a:t>Sistema de Gestão de Requisições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BBCC"/>
                </a:solidFill>
                <a:latin typeface="Calibri"/>
              </a:rPr>
              <a:t>Ferragens Pinheiro  |  v1.1.0  |  Maio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O Desafio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47120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657600" cy="201168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📄  Processos manuais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Requisições feitas em papel ou planilhas descentralizadas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371600"/>
            <a:ext cx="3657600" cy="201168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4630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🔍  Sem rastreabilidade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9659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Nenhum controle de status dos pedidos em tempo real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371600"/>
            <a:ext cx="3657600" cy="201168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4630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⚠️  Erros humanos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9659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PDFs gerados manualmente, sujeitos a inconsistências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3749039"/>
            <a:ext cx="3657600" cy="201168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3840479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🔌  Equipes desconectadas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343399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Produção e indústria sem acesso às informações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749039"/>
            <a:ext cx="3657600" cy="201168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840479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📁  Histórico disperso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343399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Consultas difíceis, dados espalhados sem padronização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A Solução Desenvolvida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47120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657600" cy="438912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🖥️  Desktop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33832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PySide6 / Qt6</a:t>
            </a:r>
          </a:p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Interface nativa Windows</a:t>
            </a:r>
          </a:p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Escala adaptativa</a:t>
            </a:r>
          </a:p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Atualização automática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4361688" y="1188720"/>
            <a:ext cx="3657600" cy="438912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2801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🌐  API Central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783080"/>
            <a:ext cx="33832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FastAPI + Uvicorn</a:t>
            </a:r>
          </a:p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REST + SSE em tempo real</a:t>
            </a:r>
          </a:p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Autenticação JWT</a:t>
            </a:r>
          </a:p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Documentação interativa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66175" y="1188720"/>
            <a:ext cx="3657600" cy="438912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03335" y="12801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🗄️  Banco de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3335" y="1783080"/>
            <a:ext cx="338328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PostgreSQL 12+</a:t>
            </a:r>
          </a:p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Índices GIN trigram</a:t>
            </a:r>
          </a:p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Backup automático</a:t>
            </a:r>
          </a:p>
          <a:p>
            <a:pPr>
              <a:defRPr sz="1100">
                <a:solidFill>
                  <a:srgbClr val="1E3A5F"/>
                </a:solidFill>
                <a:latin typeface="Calibri"/>
              </a:defRPr>
            </a:pPr>
            <a:r>
              <a:t>• 12 tabelas estruturadas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6DA4"/>
                </a:solidFill>
                <a:latin typeface="Calibri"/>
              </a:rPr>
              <a:t>100% desenvolvido internamente para as necessidades da Ferragens Pinheiro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6 Perfis de Acesso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47120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80467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2011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👑  Admin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280160"/>
            <a:ext cx="8869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Acesso total — usuários, painel técnico, configurações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57400"/>
            <a:ext cx="1124712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011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📊  Gerente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148840"/>
            <a:ext cx="8869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Dashboard, pedidos, histórico, gestão de usuários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11247120" cy="80467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2011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🛒  Vendedor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017520"/>
            <a:ext cx="8869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Criar e acompanhar suas requisições, histórico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94759"/>
            <a:ext cx="1124712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86199"/>
            <a:ext cx="2011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🔧  Produção (A&amp;R)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886199"/>
            <a:ext cx="8869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Visualizar requisições e tela de A&amp;R em leitura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663440"/>
            <a:ext cx="11247120" cy="80467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754880"/>
            <a:ext cx="2011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🏭  Indústria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754880"/>
            <a:ext cx="8869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Visualizar requisições e tela de Indústria em leitura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532120"/>
            <a:ext cx="1124712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2011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🚚 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623560"/>
            <a:ext cx="8869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Visualizar Central de Pedidos em modo leitura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O Que o Sistema Faz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47120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3749039" cy="21945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📋  Central de Pedidos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38528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Criação, acompanhamento e busca de requisições em tempo real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280160"/>
            <a:ext cx="3749039" cy="21945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3898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📄  PDF Automático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938528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Geração e envio do PDF para a pasta de rede ao salvar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280160"/>
            <a:ext cx="3749039" cy="21945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3898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🔔  Notificações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938528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Alertas em tempo real via SSE com toasts e painel lateral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749039"/>
            <a:ext cx="3749039" cy="21945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858767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🖊️  Editor de Desenho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407407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Croquis e cotas MM integrados à requisição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3749039"/>
            <a:ext cx="3749039" cy="21945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858767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📊 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407407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KPIs, gráficos e relatórios para gerentes e admins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3749039"/>
            <a:ext cx="3749039" cy="219456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3858767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🔄  Auto-Update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7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Atualização automática sem intervenção de 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Central de Pedidos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47120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3A5F"/>
                </a:solidFill>
                <a:latin typeface="Calibri"/>
              </a:defRPr>
            </a:pPr>
            <a:r>
              <a:t>• Busca inteligente de clientes (112 mil+ registros)</a:t>
            </a:r>
          </a:p>
          <a:p>
            <a:pPr>
              <a:spcAft>
                <a:spcPts val="800"/>
              </a:spcAft>
              <a:defRPr sz="1300">
                <a:solidFill>
                  <a:srgbClr val="1E3A5F"/>
                </a:solidFill>
                <a:latin typeface="Calibri"/>
              </a:defRPr>
            </a:pPr>
            <a:r>
              <a:t>• Status em tempo real: Em andamento → Em produção → Faturado</a:t>
            </a:r>
          </a:p>
          <a:p>
            <a:pPr>
              <a:spcAft>
                <a:spcPts val="800"/>
              </a:spcAft>
              <a:defRPr sz="1300">
                <a:solidFill>
                  <a:srgbClr val="1E3A5F"/>
                </a:solidFill>
                <a:latin typeface="Calibri"/>
              </a:defRPr>
            </a:pPr>
            <a:r>
              <a:t>• Busca por nome, CNPJ, código ou número do pedido</a:t>
            </a:r>
          </a:p>
          <a:p>
            <a:pPr>
              <a:spcAft>
                <a:spcPts val="800"/>
              </a:spcAft>
              <a:defRPr sz="1300">
                <a:solidFill>
                  <a:srgbClr val="1E3A5F"/>
                </a:solidFill>
                <a:latin typeface="Calibri"/>
              </a:defRPr>
            </a:pPr>
            <a:r>
              <a:t>• Ordenação por qualquer coluna com um clique</a:t>
            </a:r>
          </a:p>
          <a:p>
            <a:pPr>
              <a:spcAft>
                <a:spcPts val="800"/>
              </a:spcAft>
              <a:defRPr sz="1300">
                <a:solidFill>
                  <a:srgbClr val="1E3A5F"/>
                </a:solidFill>
                <a:latin typeface="Calibri"/>
              </a:defRPr>
            </a:pPr>
            <a:r>
              <a:t>• PDF gerado e enviado automaticamente para a pasta de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0" y="1188720"/>
            <a:ext cx="4663440" cy="5029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0" y="11887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Status das Requisições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1691640"/>
            <a:ext cx="4663440" cy="685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78040" y="1874520"/>
            <a:ext cx="320040" cy="320040"/>
          </a:xfrm>
          <a:prstGeom prst="rect">
            <a:avLst/>
          </a:prstGeom>
          <a:solidFill>
            <a:srgbClr val="418B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8308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5F"/>
                </a:solidFill>
                <a:latin typeface="Calibri"/>
              </a:rPr>
              <a:t>🔵 Em andamento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2441448"/>
            <a:ext cx="46634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78040" y="2624328"/>
            <a:ext cx="320040" cy="3200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2532888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5F"/>
                </a:solidFill>
                <a:latin typeface="Calibri"/>
              </a:rPr>
              <a:t>🟡 Aguardando recebimento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3191256"/>
            <a:ext cx="4663440" cy="685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78040" y="3374136"/>
            <a:ext cx="32004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3282696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5F"/>
                </a:solidFill>
                <a:latin typeface="Calibri"/>
              </a:rPr>
              <a:t>🟠 Em produção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3941064"/>
            <a:ext cx="46634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78040" y="4123944"/>
            <a:ext cx="320040" cy="320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4032504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5F"/>
                </a:solidFill>
                <a:latin typeface="Calibri"/>
              </a:rPr>
              <a:t>🟢 Faturado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4690872"/>
            <a:ext cx="4663440" cy="685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78040" y="4873752"/>
            <a:ext cx="320040" cy="3200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4782312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5F"/>
                </a:solidFill>
                <a:latin typeface="Calibri"/>
              </a:rPr>
              <a:t>🔴 Cancelada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Editor de Desenho Integrado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47120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577840" cy="160020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🖊️  Croquis integrados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Desenhos e medidas diretamente na requisição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280160"/>
            <a:ext cx="5577840" cy="160020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📐  9 Ferramentas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Caneta, linha, seta, retângulo, triângulo, texto, cota MM, borracha e seleção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063239"/>
            <a:ext cx="5577840" cy="160020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1546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🎯  Posicionamento inteligente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57599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Rótulos MM movem automaticamente para evitar sobreposição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063239"/>
            <a:ext cx="5577840" cy="160020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1546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🔗  Snap de extremidades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599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Linhas se conectam precisamente a outros pontos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846320"/>
            <a:ext cx="5577840" cy="160020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9377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📄  Exporta para PDF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44068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Todo o desenho aparece no PDF da requisição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846320"/>
            <a:ext cx="5577840" cy="160020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9377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Calibri"/>
              </a:rPr>
              <a:t>⌨️  Atalhos de teclado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44068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E3A5F"/>
                </a:solidFill>
                <a:latin typeface="Calibri"/>
              </a:rPr>
              <a:t>P, L, A, R, T, X, M, E, S — uma tecla por ferramenta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Infraestrutura e Confiabilidade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47120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577840" cy="5212080"/>
          </a:xfrm>
          <a:prstGeom prst="rect">
            <a:avLst/>
          </a:prstGeom>
          <a:solidFill>
            <a:srgbClr val="D6E4F0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🔔  Notificações em Tempo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3A5F"/>
                </a:solidFill>
                <a:latin typeface="Calibri"/>
              </a:defRPr>
            </a:pPr>
            <a:r>
              <a:t>• Tecnologia Server-Sent Events (SSE)</a:t>
            </a:r>
          </a:p>
          <a:p>
            <a:pPr>
              <a:spcAft>
                <a:spcPts val="800"/>
              </a:spcAft>
              <a:defRPr sz="1200">
                <a:solidFill>
                  <a:srgbClr val="1E3A5F"/>
                </a:solidFill>
                <a:latin typeface="Calibri"/>
              </a:defRPr>
            </a:pPr>
            <a:r>
              <a:t>• Toasts animados + painel lateral dedicado</a:t>
            </a:r>
          </a:p>
          <a:p>
            <a:pPr>
              <a:spcAft>
                <a:spcPts val="800"/>
              </a:spcAft>
              <a:defRPr sz="1200">
                <a:solidFill>
                  <a:srgbClr val="1E3A5F"/>
                </a:solidFill>
                <a:latin typeface="Calibri"/>
              </a:defRPr>
            </a:pPr>
            <a:r>
              <a:t>• Admins e gerentes recebem todas as notificações</a:t>
            </a:r>
          </a:p>
          <a:p>
            <a:pPr>
              <a:spcAft>
                <a:spcPts val="800"/>
              </a:spcAft>
              <a:defRPr sz="1200">
                <a:solidFill>
                  <a:srgbClr val="1E3A5F"/>
                </a:solidFill>
                <a:latin typeface="Calibri"/>
              </a:defRPr>
            </a:pPr>
            <a:r>
              <a:t>• Reconexão automática em caso de queda de rede</a:t>
            </a:r>
          </a:p>
          <a:p>
            <a:pPr>
              <a:spcAft>
                <a:spcPts val="800"/>
              </a:spcAft>
              <a:defRPr sz="1200">
                <a:solidFill>
                  <a:srgbClr val="1E3A5F"/>
                </a:solidFill>
                <a:latin typeface="Calibri"/>
              </a:defRPr>
            </a:pPr>
            <a:r>
              <a:t>• Badge com contador de não lidas na sidebar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88720"/>
            <a:ext cx="5577840" cy="521208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28016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5E20"/>
                </a:solidFill>
                <a:latin typeface="Calibri"/>
              </a:rPr>
              <a:t>🗄️  Backup Automático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74519"/>
            <a:ext cx="5303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B5E20"/>
                </a:solidFill>
                <a:latin typeface="Calibri"/>
              </a:defRPr>
            </a:pPr>
            <a:r>
              <a:t>• pg_dump agendado (horário configurável)</a:t>
            </a:r>
          </a:p>
          <a:p>
            <a:pPr>
              <a:spcAft>
                <a:spcPts val="800"/>
              </a:spcAft>
              <a:defRPr sz="1200">
                <a:solidFill>
                  <a:srgbClr val="1B5E20"/>
                </a:solidFill>
                <a:latin typeface="Calibri"/>
              </a:defRPr>
            </a:pPr>
            <a:r>
              <a:t>• Retenção: diário, semanal e mensal</a:t>
            </a:r>
          </a:p>
          <a:p>
            <a:pPr>
              <a:spcAft>
                <a:spcPts val="800"/>
              </a:spcAft>
              <a:defRPr sz="1200">
                <a:solidFill>
                  <a:srgbClr val="1B5E20"/>
                </a:solidFill>
                <a:latin typeface="Calibri"/>
              </a:defRPr>
            </a:pPr>
            <a:r>
              <a:t>• Salvo em pasta de rede protegida (TI)</a:t>
            </a:r>
          </a:p>
          <a:p>
            <a:pPr>
              <a:spcAft>
                <a:spcPts val="800"/>
              </a:spcAft>
              <a:defRPr sz="1200">
                <a:solidFill>
                  <a:srgbClr val="1B5E20"/>
                </a:solidFill>
                <a:latin typeface="Calibri"/>
              </a:defRPr>
            </a:pPr>
            <a:r>
              <a:t>• Configurável pelo administrador no próprio app</a:t>
            </a:r>
          </a:p>
          <a:p>
            <a:pPr>
              <a:spcAft>
                <a:spcPts val="800"/>
              </a:spcAft>
              <a:defRPr sz="1200">
                <a:solidFill>
                  <a:srgbClr val="1B5E20"/>
                </a:solidFill>
                <a:latin typeface="Calibri"/>
              </a:defRPr>
            </a:pPr>
            <a:r>
              <a:t>• Restauração rápida em caso de incidente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Atualização Sem Intervenção Técnica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47120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08760" y="14630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14630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2560320" cy="2286000"/>
          </a:xfrm>
          <a:prstGeom prst="rect">
            <a:avLst/>
          </a:prstGeom>
          <a:solidFill>
            <a:srgbClr val="D6E4F0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E3A5F"/>
                </a:solidFill>
                <a:latin typeface="Calibri"/>
              </a:rPr>
              <a:t>Nova versão
publicada
no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3246120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E6DA4"/>
                </a:solidFill>
                <a:latin typeface="Calibri"/>
              </a:rPr>
              <a:t>→</a:t>
            </a:r>
          </a:p>
        </p:txBody>
      </p:sp>
      <p:sp>
        <p:nvSpPr>
          <p:cNvPr id="9" name="Oval 8"/>
          <p:cNvSpPr/>
          <p:nvPr/>
        </p:nvSpPr>
        <p:spPr>
          <a:xfrm>
            <a:off x="4343400" y="1463040"/>
            <a:ext cx="822960" cy="822960"/>
          </a:xfrm>
          <a:prstGeom prst="ellipse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4630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423160"/>
            <a:ext cx="2560320" cy="2286000"/>
          </a:xfrm>
          <a:prstGeom prst="rect">
            <a:avLst/>
          </a:prstGeom>
          <a:solidFill>
            <a:srgbClr val="D6E4F0"/>
          </a:solidFill>
          <a:ln w="254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51460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E3A5F"/>
                </a:solidFill>
                <a:latin typeface="Calibri"/>
              </a:rPr>
              <a:t>App detecta
automaticamente
no startup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3246120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E6DA4"/>
                </a:solidFill>
                <a:latin typeface="Calibri"/>
              </a:rP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7178040" y="1463040"/>
            <a:ext cx="822960" cy="822960"/>
          </a:xfrm>
          <a:prstGeom prst="ellipse">
            <a:avLst/>
          </a:prstGeom>
          <a:solidFill>
            <a:srgbClr val="167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14630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423160"/>
            <a:ext cx="2560320" cy="2286000"/>
          </a:xfrm>
          <a:prstGeom prst="rect">
            <a:avLst/>
          </a:prstGeom>
          <a:solidFill>
            <a:srgbClr val="D6E4F0"/>
          </a:solidFill>
          <a:ln w="25400">
            <a:solidFill>
              <a:srgbClr val="167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51460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E3A5F"/>
                </a:solidFill>
                <a:latin typeface="Calibri"/>
              </a:rPr>
              <a:t>Usuário clica
"Atualizar
agora"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246120"/>
            <a:ext cx="365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E6DA4"/>
                </a:solidFill>
                <a:latin typeface="Calibri"/>
              </a:rP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10012680" y="1463040"/>
            <a:ext cx="822960" cy="8229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12680" y="146304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423160"/>
            <a:ext cx="2560320" cy="2286000"/>
          </a:xfrm>
          <a:prstGeom prst="rect">
            <a:avLst/>
          </a:prstGeom>
          <a:solidFill>
            <a:srgbClr val="D6E4F0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51460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E3A5F"/>
                </a:solidFill>
                <a:latin typeface="Calibri"/>
              </a:rPr>
              <a:t>App fecha,
atualiza e
reabre sozinho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292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7AE60"/>
                </a:solidFill>
                <a:latin typeface="Calibri"/>
              </a:rPr>
              <a:t>✅  Configurações e dados do usuário são preservados durante a atualização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4864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6DA4"/>
                </a:solidFill>
                <a:latin typeface="Calibri"/>
              </a:rPr>
              <a:t>Versão atual: v1.1.0  |  Versões futuras seguem o mesmo processo automático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Resultados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47120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65176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28600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E4F0"/>
                </a:solidFill>
                <a:latin typeface="Calibri"/>
              </a:rPr>
              <a:t>Perfis de acesso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188720"/>
            <a:ext cx="265176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18872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E4F0"/>
                </a:solidFill>
                <a:latin typeface="Calibri"/>
              </a:rPr>
              <a:t>Tabelas no banco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265176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18872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28600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E4F0"/>
                </a:solidFill>
                <a:latin typeface="Calibri"/>
              </a:rPr>
              <a:t>Telas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1188720"/>
            <a:ext cx="2651760" cy="18288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18872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28600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E4F0"/>
                </a:solidFill>
                <a:latin typeface="Calibri"/>
              </a:rPr>
              <a:t>Interno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11247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7AE60"/>
                </a:solidFill>
                <a:latin typeface="Calibri"/>
              </a:defRPr>
            </a:pPr>
            <a:r>
              <a:t>✅  Rastreabilidade completa de todas as requisições</a:t>
            </a:r>
          </a:p>
          <a:p>
            <a:pPr>
              <a:spcAft>
                <a:spcPts val="400"/>
              </a:spcAft>
              <a:defRPr sz="1300">
                <a:solidFill>
                  <a:srgbClr val="27AE60"/>
                </a:solidFill>
                <a:latin typeface="Calibri"/>
              </a:defRPr>
            </a:pPr>
            <a:r>
              <a:t>✅  PDFs padronizados e organizados por vendedor automaticamente</a:t>
            </a:r>
          </a:p>
          <a:p>
            <a:pPr>
              <a:spcAft>
                <a:spcPts val="400"/>
              </a:spcAft>
              <a:defRPr sz="1300">
                <a:solidFill>
                  <a:srgbClr val="27AE60"/>
                </a:solidFill>
                <a:latin typeface="Calibri"/>
              </a:defRPr>
            </a:pPr>
            <a:r>
              <a:t>✅  Equipes de produção com acesso em tempo real</a:t>
            </a:r>
          </a:p>
          <a:p>
            <a:pPr>
              <a:spcAft>
                <a:spcPts val="400"/>
              </a:spcAft>
              <a:defRPr sz="1300">
                <a:solidFill>
                  <a:srgbClr val="27AE60"/>
                </a:solidFill>
                <a:latin typeface="Calibri"/>
              </a:defRPr>
            </a:pPr>
            <a:r>
              <a:t>✅  Backup automático do banco de dados sem intervenção</a:t>
            </a:r>
          </a:p>
          <a:p>
            <a:pPr>
              <a:spcAft>
                <a:spcPts val="400"/>
              </a:spcAft>
              <a:defRPr sz="1300">
                <a:solidFill>
                  <a:srgbClr val="27AE60"/>
                </a:solidFill>
                <a:latin typeface="Calibri"/>
              </a:defRPr>
            </a:pPr>
            <a:r>
              <a:t>✅  Atualização automática — usuário instala com um clique</a:t>
            </a:r>
          </a:p>
          <a:p>
            <a:pPr>
              <a:spcAft>
                <a:spcPts val="400"/>
              </a:spcAft>
              <a:defRPr sz="1300">
                <a:solidFill>
                  <a:srgbClr val="27AE60"/>
                </a:solidFill>
                <a:latin typeface="Calibri"/>
              </a:defRPr>
            </a:pPr>
            <a:r>
              <a:t>✅  Interface adaptável a qualquer resolução de tela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Próximos Passos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47120" cy="3657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201168" cy="1554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11064240" cy="15544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  <a:latin typeface="Calibri"/>
              </a:rPr>
              <a:t>✅  v1.1.0 — Atual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Guia Rápido por perfil • Backup automático • Editor de desenho aprimorado • Atualização automática • Notificações em tempo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063239"/>
            <a:ext cx="201168" cy="15544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3063239"/>
            <a:ext cx="1106424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154679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39C12"/>
                </a:solidFill>
                <a:latin typeface="Calibri"/>
              </a:rPr>
              <a:t>🚧  v1.2.x — Próximo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599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Melhorias no dashboard gerencial • Integração WhatsApp • Relatórios exportáveis em Excel • Filtros avançados no histórico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46320"/>
            <a:ext cx="201168" cy="155448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846320"/>
            <a:ext cx="11064240" cy="15544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377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5A5A6"/>
                </a:solidFill>
                <a:latin typeface="Calibri"/>
              </a:rPr>
              <a:t>🔮  Futuro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Calibri"/>
              </a:rPr>
              <a:t>App mobile para visualização • Portal web para clientes • Integração com sistema ERP • Módulo de aprovação de pedidos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D6E4F0"/>
                </a:solidFill>
                <a:latin typeface="Calibri"/>
              </a:rPr>
              <a:t>Requisições App — desenvolvido para a Ferragens Pinheiro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ABBCC"/>
                </a:solidFill>
                <a:latin typeface="Calibri"/>
              </a:rPr>
              <a:t>Dúvidas e sugestões: fale com a equipe de TI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